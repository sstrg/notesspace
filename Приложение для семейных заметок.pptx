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Old Standard TT"/>
      <p:regular r:id="rId17"/>
      <p:bold r:id="rId18"/>
      <p: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OldStandardTT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OldStandardTT-italic.fntdata"/><Relationship Id="rId6" Type="http://schemas.openxmlformats.org/officeDocument/2006/relationships/slide" Target="slides/slide1.xml"/><Relationship Id="rId18" Type="http://schemas.openxmlformats.org/officeDocument/2006/relationships/font" Target="fonts/OldStandardT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c9883d4ea0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c9883d4ea0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c98ba3ede7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c98ba3ede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98ba3ede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98ba3ede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98ba3ede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98ba3ede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9c88501f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c9c88501f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c98ba3ede7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c98ba3ede7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98ba3ede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c98ba3ede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c98ba3ede7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c98ba3ede7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c98ba3ede7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c98ba3ede7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98ba3ede7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c98ba3ede7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65725"/>
            <a:ext cx="8520600" cy="4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Relationship Id="rId4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Relationship Id="rId4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Relationship Id="rId4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84775"/>
            <a:ext cx="8118600" cy="152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/>
              <a:t>Приложение для семейных заметок</a:t>
            </a:r>
            <a:endParaRPr sz="2200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2700" y="3213725"/>
            <a:ext cx="8118600" cy="157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latin typeface="Times New Roman"/>
                <a:ea typeface="Times New Roman"/>
                <a:cs typeface="Times New Roman"/>
                <a:sym typeface="Times New Roman"/>
              </a:rPr>
              <a:t>Разработкой занимались: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latin typeface="Times New Roman"/>
                <a:ea typeface="Times New Roman"/>
                <a:cs typeface="Times New Roman"/>
                <a:sym typeface="Times New Roman"/>
              </a:rPr>
              <a:t>Гаев Константин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latin typeface="Times New Roman"/>
                <a:ea typeface="Times New Roman"/>
                <a:cs typeface="Times New Roman"/>
                <a:sym typeface="Times New Roman"/>
              </a:rPr>
              <a:t>Колесов Илья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latin typeface="Times New Roman"/>
                <a:ea typeface="Times New Roman"/>
                <a:cs typeface="Times New Roman"/>
                <a:sym typeface="Times New Roman"/>
              </a:rPr>
              <a:t>Голубев Артем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latin typeface="Times New Roman"/>
                <a:ea typeface="Times New Roman"/>
                <a:cs typeface="Times New Roman"/>
                <a:sym typeface="Times New Roman"/>
              </a:rPr>
              <a:t>Иванькова Варвара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199000"/>
            <a:ext cx="8520600" cy="9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highlight>
                  <a:srgbClr val="FFFBF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Проблема:</a:t>
            </a:r>
            <a:endParaRPr sz="1600">
              <a:highlight>
                <a:srgbClr val="FFFBF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highlight>
                  <a:srgbClr val="FFFBF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Семейные дела часто разбросаны по разным мессенджерам и бумажкам,информация теряется, могут возникать ссоры и недопонимания.</a:t>
            </a:r>
            <a:endParaRPr sz="2600">
              <a:highlight>
                <a:srgbClr val="FFFBF0"/>
              </a:highlight>
            </a:endParaRPr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232750" y="1122875"/>
            <a:ext cx="8652900" cy="38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" sz="1600">
                <a:latin typeface="Times New Roman"/>
                <a:ea typeface="Times New Roman"/>
                <a:cs typeface="Times New Roman"/>
                <a:sym typeface="Times New Roman"/>
              </a:rPr>
              <a:t>Решение!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300">
                <a:highlight>
                  <a:srgbClr val="FFFBF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Единая цифровая среда, доступная как с телефона (в пути), так и с компьютера (дома).</a:t>
            </a:r>
            <a:endParaRPr sz="1300">
              <a:highlight>
                <a:srgbClr val="FFFBF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000000"/>
                </a:solidFill>
                <a:highlight>
                  <a:srgbClr val="FFFBF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Зачем это нужно: Синхронизация планов, списков покупок и важных дат в реальном времени, чтобы всем было удобно и комфортно.</a:t>
            </a:r>
            <a:endParaRPr sz="1300">
              <a:solidFill>
                <a:srgbClr val="000000"/>
              </a:solidFill>
              <a:highlight>
                <a:srgbClr val="FFFBF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400">
                <a:highlight>
                  <a:srgbClr val="FFFBF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Цель проекта — создать удобную среду для совместного хранения и редактирования заметок с гибким управлением доступом.</a:t>
            </a:r>
            <a:endParaRPr sz="1400">
              <a:highlight>
                <a:srgbClr val="FFFBF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65725"/>
            <a:ext cx="8520600" cy="4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1900">
                <a:latin typeface="Times New Roman"/>
                <a:ea typeface="Times New Roman"/>
                <a:cs typeface="Times New Roman"/>
                <a:sym typeface="Times New Roman"/>
              </a:rPr>
              <a:t>Мы смогли реализовать такие фyкнкции: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249500" y="723125"/>
            <a:ext cx="3980700" cy="38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latin typeface="Times New Roman"/>
                <a:ea typeface="Times New Roman"/>
                <a:cs typeface="Times New Roman"/>
                <a:sym typeface="Times New Roman"/>
              </a:rPr>
              <a:t>1) Авторизация и регистрация 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700">
                <a:latin typeface="Times New Roman"/>
                <a:ea typeface="Times New Roman"/>
                <a:cs typeface="Times New Roman"/>
                <a:sym typeface="Times New Roman"/>
              </a:rPr>
              <a:t>2) Создание единого пространство 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700">
                <a:latin typeface="Times New Roman"/>
                <a:ea typeface="Times New Roman"/>
                <a:cs typeface="Times New Roman"/>
                <a:sym typeface="Times New Roman"/>
              </a:rPr>
              <a:t>3) Добавление в пространство по ссылке или QR-коду 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700">
                <a:latin typeface="Times New Roman"/>
                <a:ea typeface="Times New Roman"/>
                <a:cs typeface="Times New Roman"/>
                <a:sym typeface="Times New Roman"/>
              </a:rPr>
              <a:t>4) Возможность создавать, редактировать или удалять заметки в пространстве 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700">
                <a:latin typeface="Times New Roman"/>
                <a:ea typeface="Times New Roman"/>
                <a:cs typeface="Times New Roman"/>
                <a:sym typeface="Times New Roman"/>
              </a:rPr>
              <a:t>5) Возможность исключать пользователей из пространства (права только у владельца) 6) Логировать в БД отдельной табличкой, кто работал с записью и в какое время 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700">
                <a:latin typeface="Times New Roman"/>
                <a:ea typeface="Times New Roman"/>
                <a:cs typeface="Times New Roman"/>
                <a:sym typeface="Times New Roman"/>
              </a:rPr>
              <a:t>7) Каждый пользователь должен иметь право на создание своих пространств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4572000" y="1176050"/>
            <a:ext cx="3980700" cy="32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65725"/>
            <a:ext cx="8520600" cy="4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highlight>
                  <a:srgbClr val="FFFBF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Фундаментом приложения является модуль авторизации и регистрации. Каждый пользователь проходит процесс аутентификации, что гарантирует защиту его персонального пространства. </a:t>
            </a:r>
            <a:endParaRPr sz="1600">
              <a:highlight>
                <a:srgbClr val="FFFBF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6" title="d729581f-f646-403c-96b1-040114ac51e7 (1).jpg"/>
          <p:cNvPicPr preferRelativeResize="0"/>
          <p:nvPr/>
        </p:nvPicPr>
        <p:blipFill rotWithShape="1">
          <a:blip r:embed="rId3">
            <a:alphaModFix/>
          </a:blip>
          <a:srcRect b="0" l="0" r="0" t="11971"/>
          <a:stretch/>
        </p:blipFill>
        <p:spPr>
          <a:xfrm>
            <a:off x="423000" y="847475"/>
            <a:ext cx="2154976" cy="4104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 title="9dc8f87f-00ca-4325-b963-628cf9ed3dff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6500" y="818125"/>
            <a:ext cx="5596525" cy="410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136800"/>
            <a:ext cx="8520600" cy="92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highlight>
                  <a:srgbClr val="FFFBF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В профиле пользователя реализована возможность управления личными настройками и отображена информация о членстве в различных пространствах.</a:t>
            </a:r>
            <a:endParaRPr sz="3200">
              <a:highlight>
                <a:srgbClr val="FFFBF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7" title="2fe9e700-e1b0-4916-acd4-1f69edd261bb.jpg"/>
          <p:cNvPicPr preferRelativeResize="0"/>
          <p:nvPr/>
        </p:nvPicPr>
        <p:blipFill rotWithShape="1">
          <a:blip r:embed="rId3">
            <a:alphaModFix/>
          </a:blip>
          <a:srcRect b="0" l="0" r="0" t="12418"/>
          <a:stretch/>
        </p:blipFill>
        <p:spPr>
          <a:xfrm>
            <a:off x="311700" y="766613"/>
            <a:ext cx="2373351" cy="4207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 title="eaf562ba-2bab-4495-9a12-9c567e8858a9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4225" y="766625"/>
            <a:ext cx="5588075" cy="4207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65725"/>
            <a:ext cx="8520600" cy="4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1380">
                <a:solidFill>
                  <a:srgbClr val="212121"/>
                </a:solidFill>
                <a:highlight>
                  <a:srgbClr val="FFFBF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Автоматическое объединение семьи в одной рабочей зоне.</a:t>
            </a:r>
            <a:endParaRPr sz="1380">
              <a:solidFill>
                <a:srgbClr val="212121"/>
              </a:solidFill>
              <a:highlight>
                <a:srgbClr val="FFFBF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1380">
                <a:solidFill>
                  <a:srgbClr val="212121"/>
                </a:solidFill>
                <a:highlight>
                  <a:srgbClr val="FFFBF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•  Добавление родственников по прямой ссылке или через генерацию QR-кода.</a:t>
            </a:r>
            <a:endParaRPr>
              <a:solidFill>
                <a:srgbClr val="212121"/>
              </a:solidFill>
              <a:highlight>
                <a:srgbClr val="FFFBF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8" title="ddf1ed73-7b6b-461e-80bb-d71575f51e2c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4025" y="751250"/>
            <a:ext cx="5339349" cy="423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 title="b95ff990-b8c7-4d21-a7c8-b07553fd77cf.jpg"/>
          <p:cNvPicPr preferRelativeResize="0"/>
          <p:nvPr/>
        </p:nvPicPr>
        <p:blipFill rotWithShape="1">
          <a:blip r:embed="rId4">
            <a:alphaModFix/>
          </a:blip>
          <a:srcRect b="9350" l="0" r="0" t="7163"/>
          <a:stretch/>
        </p:blipFill>
        <p:spPr>
          <a:xfrm>
            <a:off x="467400" y="723075"/>
            <a:ext cx="2373351" cy="4294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65725"/>
            <a:ext cx="8520600" cy="9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highlight>
                  <a:srgbClr val="FFFBF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Приложение реализует полный цикл управления контентом внутри пространства. Пользователи могут инициировать создание, производить редактирование и удалять неактуальные записи. </a:t>
            </a:r>
            <a:endParaRPr sz="1600">
              <a:highlight>
                <a:srgbClr val="FFFBF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19" title="8587b0b4-6bea-467f-8ba0-9c9305ae5d2f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4275" y="845250"/>
            <a:ext cx="5712049" cy="415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9" title="2c9c66bf-5350-4dfb-a4a6-1f6d4e856926.jpg"/>
          <p:cNvPicPr preferRelativeResize="0"/>
          <p:nvPr/>
        </p:nvPicPr>
        <p:blipFill rotWithShape="1">
          <a:blip r:embed="rId4">
            <a:alphaModFix/>
          </a:blip>
          <a:srcRect b="1923" l="0" r="0" t="6476"/>
          <a:stretch/>
        </p:blipFill>
        <p:spPr>
          <a:xfrm>
            <a:off x="427175" y="845250"/>
            <a:ext cx="2221851" cy="4157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311700" y="65725"/>
            <a:ext cx="8520600" cy="4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1400">
                <a:latin typeface="Times New Roman"/>
                <a:ea typeface="Times New Roman"/>
                <a:cs typeface="Times New Roman"/>
                <a:sym typeface="Times New Roman"/>
              </a:rPr>
              <a:t>Техническая реализация: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11700" y="1171600"/>
            <a:ext cx="37497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Times New Roman"/>
                <a:ea typeface="Times New Roman"/>
                <a:cs typeface="Times New Roman"/>
                <a:sym typeface="Times New Roman"/>
              </a:rPr>
              <a:t>для мобильного приложения: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300">
                <a:latin typeface="Times New Roman"/>
                <a:ea typeface="Times New Roman"/>
                <a:cs typeface="Times New Roman"/>
                <a:sym typeface="Times New Roman"/>
              </a:rPr>
              <a:t>-swift 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4461650" y="1171600"/>
            <a:ext cx="37497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Times New Roman"/>
                <a:ea typeface="Times New Roman"/>
                <a:cs typeface="Times New Roman"/>
                <a:sym typeface="Times New Roman"/>
              </a:rPr>
              <a:t>для декстоп: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300">
                <a:latin typeface="Times New Roman"/>
                <a:ea typeface="Times New Roman"/>
                <a:cs typeface="Times New Roman"/>
                <a:sym typeface="Times New Roman"/>
              </a:rPr>
              <a:t>-python 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300">
                <a:latin typeface="Times New Roman"/>
                <a:ea typeface="Times New Roman"/>
                <a:cs typeface="Times New Roman"/>
                <a:sym typeface="Times New Roman"/>
              </a:rPr>
              <a:t>библиотеки: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300">
                <a:latin typeface="Times New Roman"/>
                <a:ea typeface="Times New Roman"/>
                <a:cs typeface="Times New Roman"/>
                <a:sym typeface="Times New Roman"/>
              </a:rPr>
              <a:t>PyQt6&gt;=6.4.0 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300">
                <a:latin typeface="Times New Roman"/>
                <a:ea typeface="Times New Roman"/>
                <a:cs typeface="Times New Roman"/>
                <a:sym typeface="Times New Roman"/>
              </a:rPr>
              <a:t>qrcode&gt;=7.4 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300">
                <a:latin typeface="Times New Roman"/>
                <a:ea typeface="Times New Roman"/>
                <a:cs typeface="Times New Roman"/>
                <a:sym typeface="Times New Roman"/>
              </a:rPr>
              <a:t>Pillow&gt;=9.0.0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311700" y="445025"/>
            <a:ext cx="8520600" cy="143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1400">
                <a:highlight>
                  <a:srgbClr val="FFFBF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Итогом нашей работы стало создание гибкого, масштабируемого приложения для семейного использования. Продукт успешно решает задачи объединения пользователей в общие рабочие зоны, обеспечивает строгий учет действий и удобство доступа с различных типов устройств. </a:t>
            </a:r>
            <a:endParaRPr sz="1400">
              <a:highlight>
                <a:srgbClr val="FFFBF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1400">
                <a:highlight>
                  <a:srgbClr val="FFFBF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Мы распределяли задачи так, чтобы каждый мог проявить свои лучшие качества и знания, и эта командная работа помогла нам сделать этот проект.</a:t>
            </a:r>
            <a:endParaRPr sz="1600">
              <a:highlight>
                <a:srgbClr val="FFFBF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21"/>
          <p:cNvSpPr txBox="1"/>
          <p:nvPr>
            <p:ph idx="1" type="body"/>
          </p:nvPr>
        </p:nvSpPr>
        <p:spPr>
          <a:xfrm>
            <a:off x="311700" y="2117800"/>
            <a:ext cx="8520600" cy="26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type="title"/>
          </p:nvPr>
        </p:nvSpPr>
        <p:spPr>
          <a:xfrm>
            <a:off x="311700" y="65725"/>
            <a:ext cx="8520600" cy="4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2"/>
          <p:cNvSpPr txBox="1"/>
          <p:nvPr>
            <p:ph idx="1" type="body"/>
          </p:nvPr>
        </p:nvSpPr>
        <p:spPr>
          <a:xfrm>
            <a:off x="311700" y="1638100"/>
            <a:ext cx="8520600" cy="82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300">
                <a:latin typeface="Times New Roman"/>
                <a:ea typeface="Times New Roman"/>
                <a:cs typeface="Times New Roman"/>
                <a:sym typeface="Times New Roman"/>
              </a:rPr>
              <a:t>Спасибо за ваше внимание!</a:t>
            </a:r>
            <a:endParaRPr b="1"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758">
                <a:latin typeface="Times New Roman"/>
                <a:ea typeface="Times New Roman"/>
                <a:cs typeface="Times New Roman"/>
                <a:sym typeface="Times New Roman"/>
              </a:rPr>
              <a:t>(мы старались)</a:t>
            </a:r>
            <a:endParaRPr sz="75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title"/>
          </p:nvPr>
        </p:nvSpPr>
        <p:spPr>
          <a:xfrm>
            <a:off x="311700" y="65725"/>
            <a:ext cx="8520600" cy="4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1600">
                <a:latin typeface="Times New Roman"/>
                <a:ea typeface="Times New Roman"/>
                <a:cs typeface="Times New Roman"/>
                <a:sym typeface="Times New Roman"/>
              </a:rPr>
              <a:t>С</a:t>
            </a:r>
            <a:r>
              <a:rPr lang="ru" sz="1600">
                <a:latin typeface="Times New Roman"/>
                <a:ea typeface="Times New Roman"/>
                <a:cs typeface="Times New Roman"/>
                <a:sym typeface="Times New Roman"/>
              </a:rPr>
              <a:t>сылка на гит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23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23" title="qr-code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8850" y="962975"/>
            <a:ext cx="3429000" cy="316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